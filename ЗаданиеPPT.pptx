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4FBD515-81FC-4459-8FA4-61C4784D81FC}">
  <a:tblStyle styleId="{D4FBD515-81FC-4459-8FA4-61C4784D81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1558a4cf95c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" name="Google Shape;41;g1558a4cf95c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g1558a4cf95c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" name="Google Shape;48;g1558a4cf95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1558a4cf95c_0_3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1558a4cf95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1558a4cf95c_0_4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1558a4cf95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1558a4cf95c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1558a4cf95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1399cabee58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1399cabee5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1558a4cf95c_0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1558a4cf95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1399cabee58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1399cabee5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1399cabee58_0_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1399cabee5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99cabee58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99cabee58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eb357e8d4f_1_1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eb357e8d4f_1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354" y="0"/>
            <a:ext cx="1218929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type="title"/>
          </p:nvPr>
        </p:nvSpPr>
        <p:spPr>
          <a:xfrm>
            <a:off x="1054464" y="1118585"/>
            <a:ext cx="6012000" cy="18118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  <a:defRPr sz="2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" type="body"/>
          </p:nvPr>
        </p:nvSpPr>
        <p:spPr>
          <a:xfrm>
            <a:off x="1054464" y="2942591"/>
            <a:ext cx="6012000" cy="11266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i="1" sz="1800">
                <a:solidFill>
                  <a:schemeClr val="lt1"/>
                </a:solidFill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2" type="subTitle"/>
          </p:nvPr>
        </p:nvSpPr>
        <p:spPr>
          <a:xfrm>
            <a:off x="1054464" y="4208016"/>
            <a:ext cx="6012000" cy="1454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7" name="Google Shape;17;p2"/>
          <p:cNvSpPr txBox="1"/>
          <p:nvPr>
            <p:ph idx="3" type="body"/>
          </p:nvPr>
        </p:nvSpPr>
        <p:spPr>
          <a:xfrm>
            <a:off x="1054464" y="5674992"/>
            <a:ext cx="6012000" cy="7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i="1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i="1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i="1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i="1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i="1" sz="1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"/>
          <p:cNvSpPr/>
          <p:nvPr>
            <p:ph idx="4" type="pic"/>
          </p:nvPr>
        </p:nvSpPr>
        <p:spPr>
          <a:xfrm>
            <a:off x="7448550" y="0"/>
            <a:ext cx="474345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5740850" y="537875"/>
            <a:ext cx="6092700" cy="47064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7"/>
          <p:cNvSpPr txBox="1"/>
          <p:nvPr>
            <p:ph type="title"/>
          </p:nvPr>
        </p:nvSpPr>
        <p:spPr>
          <a:xfrm>
            <a:off x="1054475" y="1118575"/>
            <a:ext cx="45726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Mandatory assignment 2: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/>
              <a:t>MIPS Simulator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1054464" y="3842566"/>
            <a:ext cx="6012000" cy="11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en-US"/>
              <a:t>INF-2200 Fall 2023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t/>
            </a:r>
            <a:endParaRPr/>
          </a:p>
        </p:txBody>
      </p:sp>
      <p:sp>
        <p:nvSpPr>
          <p:cNvPr id="36" name="Google Shape;36;p7"/>
          <p:cNvSpPr txBox="1"/>
          <p:nvPr>
            <p:ph idx="2" type="subTitle"/>
          </p:nvPr>
        </p:nvSpPr>
        <p:spPr>
          <a:xfrm>
            <a:off x="1054464" y="4208016"/>
            <a:ext cx="6012000" cy="14547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0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</a:pPr>
            <a:r>
              <a:rPr lang="en-US"/>
              <a:t>Lars Ailo Bongo (lars.ailo.bongo@uit.no)</a:t>
            </a:r>
            <a:endParaRPr/>
          </a:p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1054464" y="5674992"/>
            <a:ext cx="6012000" cy="746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14.09.23</a:t>
            </a:r>
            <a:endParaRPr/>
          </a:p>
        </p:txBody>
      </p:sp>
      <p:pic>
        <p:nvPicPr>
          <p:cNvPr descr="f04-24-P374493" id="38" name="Google Shape;38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8452" y="679775"/>
            <a:ext cx="5551674" cy="4357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299975" y="136525"/>
            <a:ext cx="82959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Implement a </a:t>
            </a:r>
            <a:r>
              <a:rPr b="1" lang="en-US" sz="3200"/>
              <a:t>pipelined </a:t>
            </a:r>
            <a:r>
              <a:rPr lang="en-US" sz="3200"/>
              <a:t>binary code simulator for a subset of the MIPS architecture</a:t>
            </a:r>
            <a:endParaRPr sz="3200"/>
          </a:p>
        </p:txBody>
      </p:sp>
      <p:sp>
        <p:nvSpPr>
          <p:cNvPr id="44" name="Google Shape;44;p8"/>
          <p:cNvSpPr txBox="1"/>
          <p:nvPr>
            <p:ph idx="1" type="body"/>
          </p:nvPr>
        </p:nvSpPr>
        <p:spPr>
          <a:xfrm>
            <a:off x="838200" y="1825625"/>
            <a:ext cx="73749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Datapath and controller as described in textbook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C</a:t>
            </a:r>
            <a:r>
              <a:rPr lang="en-US"/>
              <a:t>hapter 4.1 - 4.8 (not including dynamic branch prediction)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(Chapters 1 - 3 and Appendix B)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For the design review you should understand: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Pipeline concept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MIPS instruction format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Binary operations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Data and control hazards</a:t>
            </a:r>
            <a:endParaRPr/>
          </a:p>
        </p:txBody>
      </p:sp>
      <p:graphicFrame>
        <p:nvGraphicFramePr>
          <p:cNvPr id="45" name="Google Shape;45;p8"/>
          <p:cNvGraphicFramePr/>
          <p:nvPr/>
        </p:nvGraphicFramePr>
        <p:xfrm>
          <a:off x="8736225" y="13743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{D4FBD515-81FC-4459-8FA4-61C4784D81FC}</a:tableStyleId>
              </a:tblPr>
              <a:tblGrid>
                <a:gridCol w="991200"/>
                <a:gridCol w="2261950"/>
              </a:tblGrid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j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jump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beq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branch equal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bne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branch not equal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lui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load upper intermediate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slt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set less than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lw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load word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sw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store word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addu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 </a:t>
                      </a:r>
                      <a:r>
                        <a:rPr b="1" lang="en-US" sz="1200"/>
                        <a:t>unsigned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addi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 </a:t>
                      </a:r>
                      <a:r>
                        <a:rPr b="1" lang="en-US" sz="1200"/>
                        <a:t>intermediate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548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addiu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add intermediate unsigned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sub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subtract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subu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sub unsigned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and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binary and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binary or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nor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binary nor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  <a:tr h="365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break</a:t>
                      </a:r>
                      <a:endParaRPr b="1" sz="12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200"/>
                        <a:t>break execution</a:t>
                      </a:r>
                      <a:endParaRPr b="1" sz="12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Pre-code implements a </a:t>
            </a:r>
            <a:r>
              <a:rPr lang="en-US"/>
              <a:t>simple</a:t>
            </a:r>
            <a:r>
              <a:rPr lang="en-US"/>
              <a:t> control and data path</a:t>
            </a:r>
            <a:endParaRPr/>
          </a:p>
        </p:txBody>
      </p:sp>
      <p:sp>
        <p:nvSpPr>
          <p:cNvPr id="51" name="Google Shape;51;p9"/>
          <p:cNvSpPr txBox="1"/>
          <p:nvPr>
            <p:ph idx="1" type="body"/>
          </p:nvPr>
        </p:nvSpPr>
        <p:spPr>
          <a:xfrm>
            <a:off x="838200" y="1825625"/>
            <a:ext cx="55131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Adder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Constant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Mux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PC (Modify to handle hazards)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Random Control (useless)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Test Element (example in mux.py)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2" name="Google Shape;5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72200" y="1843225"/>
            <a:ext cx="5867401" cy="38309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All control and datapath elements are subclasses of the CPUElement class</a:t>
            </a:r>
            <a:endParaRPr/>
          </a:p>
        </p:txBody>
      </p:sp>
      <p:sp>
        <p:nvSpPr>
          <p:cNvPr id="58" name="Google Shape;58;p10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T</a:t>
            </a:r>
            <a:r>
              <a:rPr lang="en-US" sz="2400"/>
              <a:t>able</a:t>
            </a:r>
            <a:r>
              <a:rPr lang="en-US" sz="2400"/>
              <a:t> data structures for: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</a:t>
            </a:r>
            <a:r>
              <a:rPr lang="en-US" sz="2400"/>
              <a:t>nput data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Output data 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Input control signals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output control signals</a:t>
            </a:r>
            <a:endParaRPr sz="2400"/>
          </a:p>
        </p:txBody>
      </p:sp>
      <p:sp>
        <p:nvSpPr>
          <p:cNvPr id="59" name="Google Shape;59;p10"/>
          <p:cNvSpPr txBox="1"/>
          <p:nvPr>
            <p:ph idx="2" type="body"/>
          </p:nvPr>
        </p:nvSpPr>
        <p:spPr>
          <a:xfrm>
            <a:off x="6172200" y="1825625"/>
            <a:ext cx="5640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/>
              <a:t>Interface:</a:t>
            </a:r>
            <a:endParaRPr sz="2400"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 __init__</a:t>
            </a:r>
            <a:r>
              <a:rPr lang="en-US" sz="2400"/>
              <a:t>: Constructor.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connect</a:t>
            </a:r>
            <a:r>
              <a:rPr lang="en-US" sz="2400"/>
              <a:t>: initialize data and control paths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readinput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readControlSignals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writeOutput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setControlSignals</a:t>
            </a:r>
            <a:endParaRPr b="1"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getOutputValue</a:t>
            </a:r>
            <a:r>
              <a:rPr lang="en-US" sz="2400"/>
              <a:t>: read output data from previous iteration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1" lang="en-US" sz="2400"/>
              <a:t>getControlSignal</a:t>
            </a:r>
            <a:r>
              <a:rPr lang="en-US" sz="2400"/>
              <a:t>: get control signal from previous iteration</a:t>
            </a:r>
            <a:endParaRPr sz="24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1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tasks (1)</a:t>
            </a:r>
            <a:endParaRPr/>
          </a:p>
        </p:txBody>
      </p:sp>
      <p:sp>
        <p:nvSpPr>
          <p:cNvPr id="65" name="Google Shape;65;p11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I</a:t>
            </a:r>
            <a:r>
              <a:rPr lang="en-US"/>
              <a:t>mplement a subclass for each type of element in your control or data path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Elements are subclasses of CPUElement (pre-code)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CPU Elements are connected in a MIPSSimulator class 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Implement initializeMemory()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InstructionMemory and DataMemory instances initialized by reading binary data from a file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2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simulator</a:t>
            </a:r>
            <a:endParaRPr/>
          </a:p>
        </p:txBody>
      </p:sp>
      <p:sp>
        <p:nvSpPr>
          <p:cNvPr id="71" name="Google Shape;71;p12"/>
          <p:cNvSpPr txBox="1"/>
          <p:nvPr>
            <p:ph idx="1" type="body"/>
          </p:nvPr>
        </p:nvSpPr>
        <p:spPr>
          <a:xfrm>
            <a:off x="838200" y="1520550"/>
            <a:ext cx="10515600" cy="46563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Initialization: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Create an object for each control and datapath element.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Connect the elements by specifying input and output data and signals.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For each cycle: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For each element, call readControlSignals() and readInput()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For each element, call writeOutput() and setControlSignals()</a:t>
            </a:r>
            <a:endParaRPr sz="2500"/>
          </a:p>
          <a:p>
            <a:pPr indent="-387350" lvl="0" marL="457200" rtl="0" algn="l">
              <a:spcBef>
                <a:spcPts val="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Check if the break instruction has been encountered and exit the loop if so.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500"/>
              <a:t>On completion:</a:t>
            </a:r>
            <a:endParaRPr sz="2500"/>
          </a:p>
          <a:p>
            <a:pPr indent="-387350" lvl="0" marL="457200" rtl="0" algn="l">
              <a:spcBef>
                <a:spcPts val="1000"/>
              </a:spcBef>
              <a:spcAft>
                <a:spcPts val="0"/>
              </a:spcAft>
              <a:buSzPts val="2500"/>
              <a:buAutoNum type="arabicPeriod"/>
            </a:pPr>
            <a:r>
              <a:rPr lang="en-US" sz="2500"/>
              <a:t>Print the content of the registers and the number of cycles that were executed.</a:t>
            </a:r>
            <a:endParaRPr sz="25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.mem programs</a:t>
            </a:r>
            <a:endParaRPr/>
          </a:p>
        </p:txBody>
      </p:sp>
      <p:sp>
        <p:nvSpPr>
          <p:cNvPr id="77" name="Google Shape;77;p13"/>
          <p:cNvSpPr txBox="1"/>
          <p:nvPr>
            <p:ph idx="1" type="body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MIPS binary code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provide 16 simple + 3 more advanced programs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provide assembly comments for readability, but you should only use the binary codes</a:t>
            </a:r>
            <a:endParaRPr/>
          </a:p>
        </p:txBody>
      </p:sp>
      <p:sp>
        <p:nvSpPr>
          <p:cNvPr id="78" name="Google Shape;78;p13"/>
          <p:cNvSpPr txBox="1"/>
          <p:nvPr>
            <p:ph idx="2" type="body"/>
          </p:nvPr>
        </p:nvSpPr>
        <p:spPr>
          <a:xfrm>
            <a:off x="6265300" y="1234025"/>
            <a:ext cx="5775000" cy="4806900"/>
          </a:xfrm>
          <a:prstGeom prst="rect">
            <a:avLst/>
          </a:prstGeom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# structure: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# 'TestName' 'destination(register/address)' 'value' 'exception'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&gt; Test_lw 12 42 !trap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0x0000000000000000	0x3C0904DC	lui   $t1, 0x4dc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0x0000000000000004	0x214A57F4	addi  $t2, $t2, 0x57f4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0x0000000000000008	0x01495825	or    $t3, $t2, $t1 #data dependency#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0x000000000000000c	0x8D6C0000	lw    $t4, ($t3)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0x0000000000000010	0x00000000	nop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0x0000000000000014	0x00000000	nop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0x0000000000000018	0x00000000	nop  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0x000000000000001c	0x0000000D	break 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1400">
                <a:latin typeface="Consolas"/>
                <a:ea typeface="Consolas"/>
                <a:cs typeface="Consolas"/>
                <a:sym typeface="Consolas"/>
              </a:rPr>
              <a:t>0x0000000004dc57f4	0x0000002A	#DATA MEM# 42</a:t>
            </a:r>
            <a:endParaRPr sz="1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tasks (2)</a:t>
            </a:r>
            <a:endParaRPr/>
          </a:p>
        </p:txBody>
      </p:sp>
      <p:sp>
        <p:nvSpPr>
          <p:cNvPr id="84" name="Google Shape;84;p14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Add support for break instruction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Figure out correct order to read from and write to the different elements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Select and implement and approach to handle data hazards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Read-after-write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Load-use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Others?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Handle control hazards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Branching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-US"/>
              <a:t>Others?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90" name="Google Shape;90;p15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provide (unit) test for MIPS instructions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provide 3 simple binary programs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We do not provide integration tests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You can run these using pytest or using Github pipeline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tasks (3)</a:t>
            </a:r>
            <a:endParaRPr/>
          </a:p>
        </p:txBody>
      </p:sp>
      <p:sp>
        <p:nvSpPr>
          <p:cNvPr id="96" name="Google Shape;96;p16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Implement (integration) tests that demonstrate that your simulator works correctly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Implement </a:t>
            </a:r>
            <a:r>
              <a:rPr lang="en-US"/>
              <a:t>tests demonstrating that you handle control and data hazards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Your tasks (4)</a:t>
            </a:r>
            <a:endParaRPr/>
          </a:p>
        </p:txBody>
      </p:sp>
      <p:sp>
        <p:nvSpPr>
          <p:cNvPr id="102" name="Google Shape;102;p1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Write report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IMRaD structure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Describe your simulator design and implementation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Discuss hazards handling approach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Describe your new tests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Describe (if any) bugs and known issues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Feel free to use ChatGPT to write the report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Deliverables and practicalities</a:t>
            </a:r>
            <a:endParaRPr/>
          </a:p>
        </p:txBody>
      </p:sp>
      <p:sp>
        <p:nvSpPr>
          <p:cNvPr id="108" name="Google Shape;108;p18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0" algn="l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Same procedure as for assignment 1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Group assignment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Github for handout and handin</a:t>
            </a:r>
            <a:endParaRPr/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US"/>
              <a:t>Design review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Each group will have a meeting with their 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You should prepare a short presentation about how you plan to solve the assignment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/>
              <a:t>Pass / no-pass grade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ight with pattern">
  <a:themeElements>
    <a:clrScheme name="UiT Norges arktiske universitet">
      <a:dk1>
        <a:srgbClr val="000000"/>
      </a:dk1>
      <a:lt1>
        <a:srgbClr val="FFFFFF"/>
      </a:lt1>
      <a:dk2>
        <a:srgbClr val="00617F"/>
      </a:dk2>
      <a:lt2>
        <a:srgbClr val="A6BBC8"/>
      </a:lt2>
      <a:accent1>
        <a:srgbClr val="007396"/>
      </a:accent1>
      <a:accent2>
        <a:srgbClr val="CB333B"/>
      </a:accent2>
      <a:accent3>
        <a:srgbClr val="F2A900"/>
      </a:accent3>
      <a:accent4>
        <a:srgbClr val="009CB6"/>
      </a:accent4>
      <a:accent5>
        <a:srgbClr val="DE7C00"/>
      </a:accent5>
      <a:accent6>
        <a:srgbClr val="59BEC9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